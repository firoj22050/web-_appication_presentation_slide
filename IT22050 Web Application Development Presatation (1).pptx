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heme/theme2.xml" ContentType="application/vnd.openxmlformats-officedocument.them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0"/>
  </p:notesMasterIdLst>
  <p:sldIdLst>
    <p:sldId id="257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4" r:id="rId12"/>
    <p:sldId id="275" r:id="rId13"/>
    <p:sldId id="276" r:id="rId14"/>
    <p:sldId id="277" r:id="rId15"/>
    <p:sldId id="281" r:id="rId16"/>
    <p:sldId id="282" r:id="rId17"/>
    <p:sldId id="283" r:id="rId18"/>
    <p:sldId id="28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49" userDrawn="1">
          <p15:clr>
            <a:srgbClr val="A4A3A4"/>
          </p15:clr>
        </p15:guide>
        <p15:guide id="2" pos="38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3C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>
        <p:scale>
          <a:sx n="68" d="100"/>
          <a:sy n="68" d="100"/>
        </p:scale>
        <p:origin x="-2178" y="-1134"/>
      </p:cViewPr>
      <p:guideLst>
        <p:guide orient="horz" pos="2149"/>
        <p:guide pos="38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557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image" Target="../media/image1.png"/><Relationship Id="rId5" Type="http://schemas.openxmlformats.org/officeDocument/2006/relationships/tags" Target="../tags/tag1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4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9" Type="http://schemas.openxmlformats.org/officeDocument/2006/relationships/image" Target="../media/image2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6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9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的屏幕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 flipV="1"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34000">
                  <a:schemeClr val="accent2">
                    <a:alpha val="0"/>
                  </a:schemeClr>
                </a:gs>
              </a:gsLst>
              <a:lin ang="7800000" scaled="0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4"/>
            </p:custDataLst>
          </p:nvPr>
        </p:nvSpPr>
        <p:spPr>
          <a:xfrm>
            <a:off x="1163955" y="523875"/>
            <a:ext cx="6628130" cy="3411855"/>
          </a:xfrm>
        </p:spPr>
        <p:txBody>
          <a:bodyPr wrap="square" anchor="b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defRPr sz="48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 wrap="square">
            <a:no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>
            <a:no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Autofit/>
          </a:bodyPr>
          <a:lstStyle>
            <a:lvl1pPr>
              <a:defRPr>
                <a:latin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8"/>
            </p:custDataLst>
          </p:nvPr>
        </p:nvSpPr>
        <p:spPr>
          <a:xfrm>
            <a:off x="1163638" y="4553893"/>
            <a:ext cx="6628158" cy="106435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>
                <a:latin typeface="+mn-lt"/>
              </a:rPr>
              <a:t>Click to add text</a:t>
            </a:r>
            <a:endParaRPr lang="en-US"/>
          </a:p>
        </p:txBody>
      </p:sp>
      <p:sp>
        <p:nvSpPr>
          <p:cNvPr id="15" name="矩形 14"/>
          <p:cNvSpPr/>
          <p:nvPr userDrawn="1">
            <p:custDataLst>
              <p:tags r:id="rId9"/>
            </p:custDataLst>
          </p:nvPr>
        </p:nvSpPr>
        <p:spPr>
          <a:xfrm>
            <a:off x="1163638" y="4304430"/>
            <a:ext cx="684000" cy="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/>
            <a:endParaRPr lang="en-US">
              <a:solidFill>
                <a:schemeClr val="accen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1"/>
            </p:custDataLst>
          </p:nvPr>
        </p:nvSpPr>
        <p:spPr>
          <a:xfrm>
            <a:off x="271462" y="452438"/>
            <a:ext cx="11649076" cy="612457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图形 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3501234"/>
          </a:xfrm>
          <a:custGeom>
            <a:avLst/>
            <a:gdLst>
              <a:gd name="connsiteX0" fmla="*/ 0 w 12192000"/>
              <a:gd name="connsiteY0" fmla="*/ 2699336 h 4235386"/>
              <a:gd name="connsiteX1" fmla="*/ 0 w 12192000"/>
              <a:gd name="connsiteY1" fmla="*/ 0 h 4235386"/>
              <a:gd name="connsiteX2" fmla="*/ 12192000 w 12192000"/>
              <a:gd name="connsiteY2" fmla="*/ 0 h 4235386"/>
              <a:gd name="connsiteX3" fmla="*/ 12192000 w 12192000"/>
              <a:gd name="connsiteY3" fmla="*/ 2699336 h 4235386"/>
              <a:gd name="connsiteX4" fmla="*/ 6096000 w 12192000"/>
              <a:gd name="connsiteY4" fmla="*/ 4235386 h 4235386"/>
              <a:gd name="connsiteX5" fmla="*/ 0 w 12192000"/>
              <a:gd name="connsiteY5" fmla="*/ 2699336 h 4235386"/>
              <a:gd name="connsiteX0-1" fmla="*/ 0 w 12192000"/>
              <a:gd name="connsiteY0-2" fmla="*/ 2699336 h 4094834"/>
              <a:gd name="connsiteX1-3" fmla="*/ 0 w 12192000"/>
              <a:gd name="connsiteY1-4" fmla="*/ 0 h 4094834"/>
              <a:gd name="connsiteX2-5" fmla="*/ 12192000 w 12192000"/>
              <a:gd name="connsiteY2-6" fmla="*/ 0 h 4094834"/>
              <a:gd name="connsiteX3-7" fmla="*/ 12192000 w 12192000"/>
              <a:gd name="connsiteY3-8" fmla="*/ 2699336 h 4094834"/>
              <a:gd name="connsiteX4-9" fmla="*/ 6102395 w 12192000"/>
              <a:gd name="connsiteY4-10" fmla="*/ 4094834 h 4094834"/>
              <a:gd name="connsiteX5-11" fmla="*/ 0 w 12192000"/>
              <a:gd name="connsiteY5-12" fmla="*/ 2699336 h 4094834"/>
              <a:gd name="connsiteX0-13" fmla="*/ 0 w 12192000"/>
              <a:gd name="connsiteY0-14" fmla="*/ 2699336 h 4094834"/>
              <a:gd name="connsiteX1-15" fmla="*/ 0 w 12192000"/>
              <a:gd name="connsiteY1-16" fmla="*/ 0 h 4094834"/>
              <a:gd name="connsiteX2-17" fmla="*/ 12192000 w 12192000"/>
              <a:gd name="connsiteY2-18" fmla="*/ 0 h 4094834"/>
              <a:gd name="connsiteX3-19" fmla="*/ 12192000 w 12192000"/>
              <a:gd name="connsiteY3-20" fmla="*/ 2699336 h 4094834"/>
              <a:gd name="connsiteX4-21" fmla="*/ 6102395 w 12192000"/>
              <a:gd name="connsiteY4-22" fmla="*/ 4094834 h 4094834"/>
              <a:gd name="connsiteX5-23" fmla="*/ 0 w 12192000"/>
              <a:gd name="connsiteY5-24" fmla="*/ 2699336 h 4094834"/>
              <a:gd name="connsiteX0-25" fmla="*/ 0 w 12192000"/>
              <a:gd name="connsiteY0-26" fmla="*/ 2699336 h 4094834"/>
              <a:gd name="connsiteX1-27" fmla="*/ 0 w 12192000"/>
              <a:gd name="connsiteY1-28" fmla="*/ 0 h 4094834"/>
              <a:gd name="connsiteX2-29" fmla="*/ 12192000 w 12192000"/>
              <a:gd name="connsiteY2-30" fmla="*/ 0 h 4094834"/>
              <a:gd name="connsiteX3-31" fmla="*/ 12192000 w 12192000"/>
              <a:gd name="connsiteY3-32" fmla="*/ 2699336 h 4094834"/>
              <a:gd name="connsiteX4-33" fmla="*/ 6102395 w 12192000"/>
              <a:gd name="connsiteY4-34" fmla="*/ 4094834 h 4094834"/>
              <a:gd name="connsiteX5-35" fmla="*/ 0 w 12192000"/>
              <a:gd name="connsiteY5-36" fmla="*/ 2699336 h 4094834"/>
              <a:gd name="connsiteX0-37" fmla="*/ 0 w 12192000"/>
              <a:gd name="connsiteY0-38" fmla="*/ 2699336 h 4094834"/>
              <a:gd name="connsiteX1-39" fmla="*/ 0 w 12192000"/>
              <a:gd name="connsiteY1-40" fmla="*/ 0 h 4094834"/>
              <a:gd name="connsiteX2-41" fmla="*/ 12192000 w 12192000"/>
              <a:gd name="connsiteY2-42" fmla="*/ 0 h 4094834"/>
              <a:gd name="connsiteX3-43" fmla="*/ 12192000 w 12192000"/>
              <a:gd name="connsiteY3-44" fmla="*/ 2699336 h 4094834"/>
              <a:gd name="connsiteX4-45" fmla="*/ 6102395 w 12192000"/>
              <a:gd name="connsiteY4-46" fmla="*/ 4094834 h 4094834"/>
              <a:gd name="connsiteX5-47" fmla="*/ 0 w 12192000"/>
              <a:gd name="connsiteY5-48" fmla="*/ 2699336 h 4094834"/>
              <a:gd name="connsiteX0-49" fmla="*/ 0 w 12192000"/>
              <a:gd name="connsiteY0-50" fmla="*/ 2699336 h 4050449"/>
              <a:gd name="connsiteX1-51" fmla="*/ 0 w 12192000"/>
              <a:gd name="connsiteY1-52" fmla="*/ 0 h 4050449"/>
              <a:gd name="connsiteX2-53" fmla="*/ 12192000 w 12192000"/>
              <a:gd name="connsiteY2-54" fmla="*/ 0 h 4050449"/>
              <a:gd name="connsiteX3-55" fmla="*/ 12192000 w 12192000"/>
              <a:gd name="connsiteY3-56" fmla="*/ 2699336 h 4050449"/>
              <a:gd name="connsiteX4-57" fmla="*/ 6108789 w 12192000"/>
              <a:gd name="connsiteY4-58" fmla="*/ 4050449 h 4050449"/>
              <a:gd name="connsiteX5-59" fmla="*/ 0 w 12192000"/>
              <a:gd name="connsiteY5-60" fmla="*/ 2699336 h 40504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2192000" h="4050449">
                <a:moveTo>
                  <a:pt x="0" y="2699336"/>
                </a:moveTo>
                <a:lnTo>
                  <a:pt x="0" y="0"/>
                </a:lnTo>
                <a:lnTo>
                  <a:pt x="12192000" y="0"/>
                </a:lnTo>
                <a:lnTo>
                  <a:pt x="12192000" y="2699336"/>
                </a:lnTo>
                <a:cubicBezTo>
                  <a:pt x="9432701" y="3723367"/>
                  <a:pt x="8193585" y="4050449"/>
                  <a:pt x="6108789" y="4050449"/>
                </a:cubicBezTo>
                <a:cubicBezTo>
                  <a:pt x="4023993" y="4050449"/>
                  <a:pt x="2759319" y="3723367"/>
                  <a:pt x="0" y="2699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38000">
                <a:schemeClr val="accent2">
                  <a:lumMod val="50000"/>
                </a:schemeClr>
              </a:gs>
            </a:gsLst>
            <a:lin ang="8100000" scaled="1"/>
            <a:tileRect/>
          </a:gradFill>
          <a:ln w="47625"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3"/>
            </p:custDataLst>
          </p:nvPr>
        </p:nvSpPr>
        <p:spPr>
          <a:xfrm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77111" y="1273862"/>
            <a:ext cx="10437779" cy="1081088"/>
          </a:xfrm>
        </p:spPr>
        <p:txBody>
          <a:bodyPr wrap="square" anchor="b">
            <a:normAutofit/>
          </a:bodyPr>
          <a:lstStyle>
            <a:lvl1pPr algn="ctr">
              <a:defRPr sz="44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萤幕&#10;&#10;中度可信度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81355" y="2541270"/>
            <a:ext cx="10829925" cy="1536700"/>
          </a:xfrm>
        </p:spPr>
        <p:txBody>
          <a:bodyPr wrap="square" anchor="t">
            <a:normAutofit/>
          </a:bodyPr>
          <a:lstStyle>
            <a:lvl1pPr algn="ctr">
              <a:defRPr sz="40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681355" y="136525"/>
            <a:ext cx="10829925" cy="2277110"/>
          </a:xfrm>
        </p:spPr>
        <p:txBody>
          <a:bodyPr wrap="none" anchor="b">
            <a:normAutofit/>
          </a:bodyPr>
          <a:lstStyle>
            <a:lvl1pPr marL="0" indent="0" algn="ctr">
              <a:buNone/>
              <a:defRPr sz="8000" b="1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5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6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2"/>
            </p:custDataLst>
          </p:nvPr>
        </p:nvSpPr>
        <p:spPr>
          <a:xfrm>
            <a:off x="694800" y="1235075"/>
            <a:ext cx="5181600" cy="48990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315602" y="1235075"/>
            <a:ext cx="5181600" cy="48990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800" y="1246687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4800" y="1862051"/>
            <a:ext cx="5157787" cy="4272049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311612" y="1246687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311612" y="1862051"/>
            <a:ext cx="5183188" cy="4272049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>
                <a:latin typeface="+mj-lt"/>
                <a:sym typeface="+mj-ea"/>
              </a:defRPr>
            </a:lvl1pPr>
          </a:lstStyle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681038" y="360000"/>
            <a:ext cx="10813762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4800" y="1235075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电脑的屏幕&#10;&#10;中度可信度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</a:schemeClr>
              </a:gs>
              <a:gs pos="43000">
                <a:schemeClr val="accent2">
                  <a:lumMod val="50000"/>
                  <a:alpha val="2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 flipV="1">
            <a:off x="271462" y="366712"/>
            <a:ext cx="11649076" cy="6210301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20000"/>
                    <a:lumOff val="80000"/>
                    <a:alpha val="20000"/>
                  </a:schemeClr>
                </a:gs>
                <a:gs pos="34000">
                  <a:schemeClr val="accent2">
                    <a:alpha val="0"/>
                  </a:schemeClr>
                </a:gs>
              </a:gsLst>
              <a:lin ang="7800000" scaled="0"/>
            </a:gradFill>
          </a:ln>
          <a:effectLst>
            <a:outerShdw blurRad="330200" dist="38100" dir="5400000" algn="t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4"/>
            </p:custDataLst>
          </p:nvPr>
        </p:nvSpPr>
        <p:spPr>
          <a:xfrm>
            <a:off x="681038" y="280987"/>
            <a:ext cx="10829924" cy="3148013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4800" y="1235075"/>
            <a:ext cx="10800000" cy="48917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15.xml"/><Relationship Id="rId7" Type="http://schemas.openxmlformats.org/officeDocument/2006/relationships/hyperlink" Target="https://github.com/Firoj22050/Lab-Project_Final_WebApp" TargetMode="Externa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hyperlink" Target="https://lab-project-final-webapp.onrender.com/" TargetMode="Externa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94269" y="2758846"/>
            <a:ext cx="4194928" cy="3877624"/>
          </a:xfrm>
        </p:spPr>
        <p:txBody>
          <a:bodyPr wrap="square">
            <a:norm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</a:t>
            </a:r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Firoj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Mahmud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IT22050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year: 3</a:t>
            </a:r>
            <a:r>
              <a:rPr lang="en-US" sz="2400" baseline="30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Semester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2</a:t>
            </a:r>
            <a:r>
              <a:rPr lang="en-US" sz="2400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nd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Session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2021-22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03695" y="63501"/>
            <a:ext cx="9634195" cy="2695345"/>
          </a:xfrm>
        </p:spPr>
        <p:txBody>
          <a:bodyPr wrap="square">
            <a:normAutofit fontScale="90000"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Information and Communication </a:t>
            </a:r>
            <a: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</a:t>
            </a:r>
            <a:b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 </a:t>
            </a:r>
            <a: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ICT-3204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Name: </a:t>
            </a:r>
            <a:r>
              <a:rPr lang="en-US" sz="28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Application Development  Lab</a:t>
            </a:r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7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Presentation </a:t>
            </a:r>
            <a:r>
              <a:rPr lang="en-US" sz="27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Topic: </a:t>
            </a:r>
            <a:r>
              <a:rPr lang="en-US" sz="2700" dirty="0">
                <a:solidFill>
                  <a:schemeClr val="bg2">
                    <a:lumMod val="50000"/>
                  </a:schemeClr>
                </a:solidFill>
              </a:rPr>
              <a:t> </a:t>
            </a:r>
            <a:r>
              <a:rPr lang="en-US" sz="2700" dirty="0" smtClean="0">
                <a:solidFill>
                  <a:schemeClr val="bg2">
                    <a:lumMod val="50000"/>
                  </a:schemeClr>
                </a:solidFill>
              </a:rPr>
              <a:t>Student Management System</a:t>
            </a:r>
            <a:r>
              <a:rPr lang="en-US" sz="2700" dirty="0">
                <a:solidFill>
                  <a:schemeClr val="bg2">
                    <a:lumMod val="50000"/>
                  </a:schemeClr>
                </a:solidFill>
              </a:rPr>
              <a:t/>
            </a:r>
            <a:br>
              <a:rPr lang="en-US" sz="27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n-US" sz="27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7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2700" dirty="0">
              <a:solidFill>
                <a:schemeClr val="bg2">
                  <a:lumMod val="5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 descr="MBSTU_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9102" y="63501"/>
            <a:ext cx="1740535" cy="17310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53637" y="2758846"/>
            <a:ext cx="6096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</a:t>
            </a:r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800" dirty="0" smtClean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Md. </a:t>
            </a:r>
            <a:r>
              <a:rPr lang="en-US" sz="2400" b="1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Anowar</a:t>
            </a:r>
            <a:r>
              <a:rPr 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Kobir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Lecturer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Dept. of ICT</a:t>
            </a:r>
          </a:p>
          <a:p>
            <a:pPr algn="just"/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Mawlana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Bhashani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Science and Technology University 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Introduction </a:t>
            </a:r>
          </a:p>
        </p:txBody>
      </p:sp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28655" y="90805"/>
            <a:ext cx="995045" cy="98933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US" sz="2300" dirty="0" smtClean="0"/>
          </a:p>
          <a:p>
            <a:r>
              <a:rPr lang="en-US" dirty="0"/>
              <a:t>The </a:t>
            </a:r>
            <a:r>
              <a:rPr lang="en-US" b="1" dirty="0"/>
              <a:t>Smart Student Management System (SMS)</a:t>
            </a:r>
            <a:r>
              <a:rPr lang="en-US" dirty="0"/>
              <a:t> is a comprehensive web platform built with Node.js, Express, and MySQL to digitize academic activities between teachers and students.</a:t>
            </a:r>
          </a:p>
          <a:p>
            <a:r>
              <a:rPr lang="en-US" dirty="0"/>
              <a:t>It provides </a:t>
            </a:r>
            <a:r>
              <a:rPr lang="en-US" b="1" dirty="0"/>
              <a:t>role-based dashboards</a:t>
            </a:r>
            <a:r>
              <a:rPr lang="en-US" dirty="0"/>
              <a:t> where teachers can manage student records, mark daily attendance with auto-calculated percentages, and enter exam marks with automatic grade generation.</a:t>
            </a:r>
          </a:p>
          <a:p>
            <a:r>
              <a:rPr lang="en-US" dirty="0"/>
              <a:t>Teachers also get </a:t>
            </a:r>
            <a:r>
              <a:rPr lang="en-US" b="1" dirty="0"/>
              <a:t>powerful analytics</a:t>
            </a:r>
            <a:r>
              <a:rPr lang="en-US" dirty="0"/>
              <a:t> including class performance trends, topper lists, at-risk student alerts, and Excel export functionality.</a:t>
            </a:r>
          </a:p>
          <a:p>
            <a:r>
              <a:rPr lang="en-US" dirty="0"/>
              <a:t>Students can view their </a:t>
            </a:r>
            <a:r>
              <a:rPr lang="en-US" b="1" dirty="0"/>
              <a:t>personal dashboard</a:t>
            </a:r>
            <a:r>
              <a:rPr lang="en-US" dirty="0"/>
              <a:t> with attendance history, digital </a:t>
            </a:r>
            <a:r>
              <a:rPr lang="en-US" dirty="0" err="1"/>
              <a:t>marksheet</a:t>
            </a:r>
            <a:r>
              <a:rPr lang="en-US" dirty="0"/>
              <a:t> (subject-wise marks &amp; GPA), and visual performance graphs using Chart.js.</a:t>
            </a:r>
          </a:p>
          <a:p>
            <a:r>
              <a:rPr lang="en-US" dirty="0"/>
              <a:t>The system includes </a:t>
            </a:r>
            <a:r>
              <a:rPr lang="en-US" b="1" dirty="0"/>
              <a:t>intelligent features</a:t>
            </a:r>
            <a:r>
              <a:rPr lang="en-US" dirty="0"/>
              <a:t> like AI-style failure prediction, strength/weakness analysis, and automatic warnings for low attendance (&lt;75%) or poor marks.</a:t>
            </a:r>
          </a:p>
          <a:p>
            <a:r>
              <a:rPr lang="en-US" dirty="0"/>
              <a:t>Security is handled via </a:t>
            </a:r>
            <a:r>
              <a:rPr lang="en-US" b="1" dirty="0"/>
              <a:t>JWT authentication</a:t>
            </a:r>
            <a:r>
              <a:rPr lang="en-US" dirty="0"/>
              <a:t>, password hashing (</a:t>
            </a:r>
            <a:r>
              <a:rPr lang="en-US" dirty="0" err="1"/>
              <a:t>bcryptjs</a:t>
            </a:r>
            <a:r>
              <a:rPr lang="en-US" dirty="0"/>
              <a:t>), and strict role-based access control for all API endpoints.</a:t>
            </a:r>
          </a:p>
          <a:p>
            <a:r>
              <a:rPr lang="en-US" dirty="0"/>
              <a:t>The frontend is a </a:t>
            </a:r>
            <a:r>
              <a:rPr lang="en-US" b="1" dirty="0"/>
              <a:t>single-page application (SPA)</a:t>
            </a:r>
            <a:r>
              <a:rPr lang="en-US" dirty="0"/>
              <a:t> using vanilla HTML, CSS, and JavaScript with a responsive, modern gradient UI.</a:t>
            </a: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6664" y="380410"/>
            <a:ext cx="10800000" cy="720000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28655" y="245745"/>
            <a:ext cx="995045" cy="98933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800" y="1463040"/>
            <a:ext cx="10800000" cy="4663760"/>
          </a:xfrm>
        </p:spPr>
        <p:txBody>
          <a:bodyPr/>
          <a:lstStyle/>
          <a:p>
            <a:r>
              <a:rPr lang="en-US" dirty="0"/>
              <a:t>Manual record keeping causes data loss, errors, and wasted time.</a:t>
            </a:r>
          </a:p>
          <a:p>
            <a:r>
              <a:rPr lang="en-US" dirty="0"/>
              <a:t>No real-time attendance tracking delays identifying students with low attendance.</a:t>
            </a:r>
          </a:p>
          <a:p>
            <a:r>
              <a:rPr lang="en-US" dirty="0"/>
              <a:t>Manual grade calculation leads to inconsistent and incorrect results.</a:t>
            </a:r>
          </a:p>
          <a:p>
            <a:r>
              <a:rPr lang="en-US" dirty="0"/>
              <a:t>Students cannot access their own attendance, marks, or performance data.</a:t>
            </a:r>
          </a:p>
          <a:p>
            <a:r>
              <a:rPr lang="en-US" dirty="0"/>
              <a:t>No automated warning system for at-risk students or weak subjects.</a:t>
            </a:r>
          </a:p>
          <a:p>
            <a:r>
              <a:rPr lang="en-US" dirty="0"/>
              <a:t>Difficult to generate class analytics, toppers lists, or export reports.</a:t>
            </a: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Objectives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28655" y="245745"/>
            <a:ext cx="995045" cy="98933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177" y="1491176"/>
            <a:ext cx="10800000" cy="4839286"/>
          </a:xfrm>
        </p:spPr>
        <p:txBody>
          <a:bodyPr>
            <a:noAutofit/>
          </a:bodyPr>
          <a:lstStyle/>
          <a:p>
            <a:r>
              <a:rPr lang="en-US" dirty="0"/>
              <a:t>Digitize and centralize all student records securely.</a:t>
            </a:r>
          </a:p>
          <a:p>
            <a:r>
              <a:rPr lang="en-US" dirty="0"/>
              <a:t>Automate daily attendance tracking with percentage calculation.</a:t>
            </a:r>
          </a:p>
          <a:p>
            <a:r>
              <a:rPr lang="en-US" dirty="0"/>
              <a:t>Implement automatic grade and GPA calculation from marks.</a:t>
            </a:r>
          </a:p>
          <a:p>
            <a:r>
              <a:rPr lang="en-US" dirty="0"/>
              <a:t>Provide students self-service access to their own performance data.</a:t>
            </a:r>
          </a:p>
          <a:p>
            <a:r>
              <a:rPr lang="en-US" dirty="0"/>
              <a:t>Generate automatic alerts for low attendance and at-risk students.</a:t>
            </a:r>
          </a:p>
          <a:p>
            <a:r>
              <a:rPr lang="en-US" dirty="0"/>
              <a:t>Enable class analytics, toppers list, and Excel report export.</a:t>
            </a:r>
          </a:p>
          <a:p>
            <a:r>
              <a:rPr lang="en-US" dirty="0"/>
              <a:t>Ensure role-based secure access using JWT authentication.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245700"/>
            <a:ext cx="10800000" cy="720000"/>
          </a:xfrm>
        </p:spPr>
        <p:txBody>
          <a:bodyPr/>
          <a:lstStyle/>
          <a:p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Key Features 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28655" y="245745"/>
            <a:ext cx="995045" cy="98933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5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Teacher Features:</a:t>
            </a:r>
          </a:p>
          <a:p>
            <a:r>
              <a:rPr lang="en-US" b="1" dirty="0" smtClean="0"/>
              <a:t>Verify </a:t>
            </a:r>
            <a:r>
              <a:rPr lang="en-US" b="1" dirty="0"/>
              <a:t>uploaded materials</a:t>
            </a:r>
            <a:r>
              <a:rPr lang="en-US" dirty="0"/>
              <a:t> – Review and approve student submissions.</a:t>
            </a:r>
          </a:p>
          <a:p>
            <a:r>
              <a:rPr lang="en-US" b="1" dirty="0"/>
              <a:t>Manage student requests</a:t>
            </a:r>
            <a:r>
              <a:rPr lang="en-US" dirty="0"/>
              <a:t> – Track and respond to resource requests.</a:t>
            </a:r>
          </a:p>
          <a:p>
            <a:r>
              <a:rPr lang="en-US" b="1" dirty="0"/>
              <a:t>Upload requested resources</a:t>
            </a:r>
            <a:r>
              <a:rPr lang="en-US" dirty="0"/>
              <a:t> – Share learning materials based on student needs.</a:t>
            </a:r>
          </a:p>
          <a:p>
            <a:r>
              <a:rPr lang="en-US" b="1" dirty="0"/>
              <a:t>Ensure content quality</a:t>
            </a:r>
            <a:r>
              <a:rPr lang="en-US" dirty="0"/>
              <a:t> – Check standards and detect duplicate uploads.</a:t>
            </a:r>
          </a:p>
          <a:p>
            <a:r>
              <a:rPr lang="en-US" b="1" dirty="0"/>
              <a:t>Monitor system activity</a:t>
            </a:r>
            <a:r>
              <a:rPr lang="en-US" dirty="0"/>
              <a:t> – Track platform usage and student engagement.</a:t>
            </a: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245745"/>
            <a:ext cx="10800000" cy="494665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Key Features</a:t>
            </a:r>
            <a:endParaRPr lang="en-US" dirty="0"/>
          </a:p>
        </p:txBody>
      </p:sp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28655" y="245745"/>
            <a:ext cx="995045" cy="98933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530" y="1009992"/>
            <a:ext cx="10800000" cy="5264199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Student Features:</a:t>
            </a:r>
          </a:p>
          <a:p>
            <a:r>
              <a:rPr lang="en-US" b="1" dirty="0"/>
              <a:t>Request learning resources</a:t>
            </a:r>
            <a:r>
              <a:rPr lang="en-US" dirty="0"/>
              <a:t> – Submit requests for specific study materials or references.</a:t>
            </a:r>
          </a:p>
          <a:p>
            <a:r>
              <a:rPr lang="en-US" b="1" dirty="0"/>
              <a:t>Upload assignments/materials</a:t>
            </a:r>
            <a:r>
              <a:rPr lang="en-US" dirty="0"/>
              <a:t> – Share completed work or resources with teachers for review.</a:t>
            </a:r>
          </a:p>
          <a:p>
            <a:r>
              <a:rPr lang="en-US" b="1" dirty="0"/>
              <a:t>View approved materials</a:t>
            </a:r>
            <a:r>
              <a:rPr lang="en-US" dirty="0"/>
              <a:t> – Access verified learning resources uploaded by teachers.</a:t>
            </a:r>
          </a:p>
          <a:p>
            <a:r>
              <a:rPr lang="en-US" b="1" dirty="0"/>
              <a:t>Track request status</a:t>
            </a:r>
            <a:r>
              <a:rPr lang="en-US" dirty="0"/>
              <a:t> – Check whether resource requests are pending, approved, or rejected.</a:t>
            </a:r>
          </a:p>
          <a:p>
            <a:r>
              <a:rPr lang="en-US" b="1" dirty="0"/>
              <a:t>Receive notifications</a:t>
            </a:r>
            <a:r>
              <a:rPr lang="en-US" dirty="0"/>
              <a:t> – Get alerts when teachers upload requested materials or provide feedback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View activity history</a:t>
            </a:r>
            <a:r>
              <a:rPr lang="en-US" dirty="0"/>
              <a:t> – See past requests, uploads, and teacher responses.</a:t>
            </a: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4572" y="245745"/>
            <a:ext cx="10960227" cy="78119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Overview and Technologies Used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28655" y="245745"/>
            <a:ext cx="995045" cy="98933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800" y="1235075"/>
            <a:ext cx="10800000" cy="5418943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xmlns:lc="http://schemas.openxmlformats.org/drawingml/2006/lockedCanvas" id="{C6453B93-54DF-49AD-EC0A-37DA8D5064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38" y="1235075"/>
            <a:ext cx="10199076" cy="499121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Overview and Technologies Used</a:t>
            </a:r>
            <a:endParaRPr lang="en-US" dirty="0"/>
          </a:p>
        </p:txBody>
      </p:sp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28655" y="245745"/>
            <a:ext cx="995045" cy="98933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1235075"/>
            <a:ext cx="10214640" cy="4891725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user roles: Student </a:t>
            </a:r>
            <a:r>
              <a:rPr lang="en-US" alt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Teacher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interacts with web application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processes requests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stored in MySQL database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returns results dynamically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System ensures authentication </a:t>
            </a: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System Demonstration: student Management System</a:t>
            </a:r>
            <a:endParaRPr lang="en-US" dirty="0"/>
          </a:p>
        </p:txBody>
      </p:sp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28655" y="245745"/>
            <a:ext cx="995045" cy="98933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9</a:t>
            </a:fld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1545372"/>
            <a:ext cx="10799763" cy="4270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System Demonstration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28655" y="245745"/>
            <a:ext cx="995045" cy="98933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10</a:t>
            </a:fld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1751446"/>
            <a:ext cx="10799763" cy="3858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623525"/>
            <a:ext cx="10800000" cy="720000"/>
          </a:xfrm>
        </p:spPr>
        <p:txBody>
          <a:bodyPr/>
          <a:lstStyle/>
          <a:p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System Demonstration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28655" y="245745"/>
            <a:ext cx="995045" cy="98933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11</a:t>
            </a:fld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1" y="1688123"/>
            <a:ext cx="10280014" cy="4438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System Demonstration</a:t>
            </a:r>
            <a:endParaRPr lang="en-US" dirty="0"/>
          </a:p>
        </p:txBody>
      </p:sp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28655" y="245745"/>
            <a:ext cx="995045" cy="98933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12</a:t>
            </a:fld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1377938"/>
            <a:ext cx="10799763" cy="4605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System Demonstration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28655" y="245745"/>
            <a:ext cx="995045" cy="98933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13</a:t>
            </a:fld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1426805"/>
            <a:ext cx="10799763" cy="4945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limitations</a:t>
            </a:r>
            <a:endParaRPr lang="en-US" dirty="0"/>
          </a:p>
        </p:txBody>
      </p:sp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28655" y="245745"/>
            <a:ext cx="995045" cy="98933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14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 real-time email/SMS notifications</a:t>
            </a:r>
          </a:p>
          <a:p>
            <a:r>
              <a:rPr lang="en-US" dirty="0"/>
              <a:t>Poor scalability for large user bases (1000+ students)</a:t>
            </a:r>
          </a:p>
          <a:p>
            <a:r>
              <a:rPr lang="en-US" dirty="0"/>
              <a:t>No dedicated mobile app (Android/</a:t>
            </a:r>
            <a:r>
              <a:rPr lang="en-US" dirty="0" err="1"/>
              <a:t>iOS</a:t>
            </a:r>
            <a:r>
              <a:rPr lang="en-US" dirty="0"/>
              <a:t>)</a:t>
            </a:r>
          </a:p>
          <a:p>
            <a:r>
              <a:rPr lang="en-US" dirty="0"/>
              <a:t>No parent/guardian access portal</a:t>
            </a:r>
          </a:p>
          <a:p>
            <a:r>
              <a:rPr lang="en-US" dirty="0"/>
              <a:t>Requires continuous internet/database connection</a:t>
            </a:r>
          </a:p>
          <a:p>
            <a:r>
              <a:rPr lang="en-US" dirty="0"/>
              <a:t>PDF </a:t>
            </a:r>
            <a:r>
              <a:rPr lang="en-US" dirty="0" err="1"/>
              <a:t>marksheet</a:t>
            </a:r>
            <a:r>
              <a:rPr lang="en-US" dirty="0"/>
              <a:t> download not fully implemented</a:t>
            </a:r>
          </a:p>
          <a:p>
            <a:r>
              <a:rPr lang="en-US" dirty="0"/>
              <a:t>No automated backup and recovery</a:t>
            </a:r>
          </a:p>
          <a:p>
            <a:r>
              <a:rPr lang="en-US" dirty="0"/>
              <a:t>No bulk student import from CSV/Excel</a:t>
            </a:r>
          </a:p>
          <a:p>
            <a:r>
              <a:rPr lang="en-US" dirty="0"/>
              <a:t>Limited to English language only</a:t>
            </a:r>
          </a:p>
          <a:p>
            <a:r>
              <a:rPr lang="en-US" dirty="0"/>
              <a:t>No offline mode support</a:t>
            </a: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828655" y="245745"/>
            <a:ext cx="995045" cy="989330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4/24/2026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15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Work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Develop mobile apps</a:t>
            </a:r>
            <a:r>
              <a:rPr lang="en-US" dirty="0"/>
              <a:t> – Create dedicated Android and </a:t>
            </a:r>
            <a:r>
              <a:rPr lang="en-US" dirty="0" err="1"/>
              <a:t>iOS</a:t>
            </a:r>
            <a:r>
              <a:rPr lang="en-US" dirty="0"/>
              <a:t> applications for students and teachers.</a:t>
            </a:r>
          </a:p>
          <a:p>
            <a:r>
              <a:rPr lang="en-US" b="1" dirty="0"/>
              <a:t>Implement real-time notifications</a:t>
            </a:r>
            <a:r>
              <a:rPr lang="en-US" dirty="0"/>
              <a:t> – Add email, SMS, and push notifications for attendance alerts and resource updates.</a:t>
            </a:r>
          </a:p>
          <a:p>
            <a:r>
              <a:rPr lang="en-US" b="1" dirty="0"/>
              <a:t>Add parent/guardian portal</a:t>
            </a:r>
            <a:r>
              <a:rPr lang="en-US" dirty="0"/>
              <a:t> – Allow parents to monitor their child's attendance, marks, and performance.</a:t>
            </a:r>
          </a:p>
          <a:p>
            <a:r>
              <a:rPr lang="en-US" b="1" dirty="0"/>
              <a:t>Enable bulk data import</a:t>
            </a:r>
            <a:r>
              <a:rPr lang="en-US" dirty="0"/>
              <a:t> – Support CSV/Excel upload </a:t>
            </a:r>
            <a:r>
              <a:rPr lang="en-US" dirty="0" err="1"/>
              <a:t>for批量</a:t>
            </a:r>
            <a:r>
              <a:rPr lang="en-US" dirty="0"/>
              <a:t> student account creation and marks entry.</a:t>
            </a:r>
          </a:p>
          <a:p>
            <a:r>
              <a:rPr lang="en-US" b="1" dirty="0"/>
              <a:t>Integrate AI-based predictions</a:t>
            </a:r>
            <a:r>
              <a:rPr lang="en-US" dirty="0"/>
              <a:t> – Enhance failure prediction with machine learning for more accurate at-risk student </a:t>
            </a:r>
            <a:r>
              <a:rPr lang="en-US" dirty="0" smtClean="0"/>
              <a:t>identification.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links</a:t>
            </a:r>
            <a:endParaRPr lang="en-US" dirty="0"/>
          </a:p>
        </p:txBody>
      </p:sp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28655" y="245745"/>
            <a:ext cx="995045" cy="98933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16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6"/>
              </a:rPr>
              <a:t>https://</a:t>
            </a:r>
            <a:r>
              <a:rPr lang="en-US" dirty="0" smtClean="0">
                <a:hlinkClick r:id="rId6"/>
              </a:rPr>
              <a:t>lab-project-final-webapp.onrender.com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linkClick r:id="rId7"/>
              </a:rPr>
              <a:t>https://</a:t>
            </a:r>
            <a:r>
              <a:rPr lang="en-US" dirty="0" smtClean="0">
                <a:hlinkClick r:id="rId7"/>
              </a:rPr>
              <a:t>github.com/Firoj22050/Lab-Project_Final_WebApp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 Summary </a:t>
            </a:r>
          </a:p>
        </p:txBody>
      </p:sp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828655" y="245745"/>
            <a:ext cx="995045" cy="98933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4/24/2026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17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Web-based platform built with Node.js, Express, and MySQL</a:t>
            </a:r>
          </a:p>
          <a:p>
            <a:r>
              <a:rPr lang="en-US" dirty="0"/>
              <a:t>Provides role-based dashboards for teachers and students</a:t>
            </a:r>
          </a:p>
          <a:p>
            <a:r>
              <a:rPr lang="en-US" dirty="0"/>
              <a:t>Automates attendance tracking, grade calculation, and GPA generation</a:t>
            </a:r>
          </a:p>
          <a:p>
            <a:r>
              <a:rPr lang="en-US" dirty="0"/>
              <a:t>Includes performance analytics with charts and Excel export</a:t>
            </a:r>
          </a:p>
          <a:p>
            <a:r>
              <a:rPr lang="en-US" dirty="0"/>
              <a:t>Students can view attendance history, </a:t>
            </a:r>
            <a:r>
              <a:rPr lang="en-US" dirty="0" err="1"/>
              <a:t>marksheet</a:t>
            </a:r>
            <a:r>
              <a:rPr lang="en-US" dirty="0"/>
              <a:t>, and AI-style predictions</a:t>
            </a:r>
          </a:p>
          <a:p>
            <a:r>
              <a:rPr lang="en-US" dirty="0"/>
              <a:t>Secured with JWT authentication and password hashing</a:t>
            </a:r>
          </a:p>
          <a:p>
            <a:r>
              <a:rPr lang="en-US" dirty="0"/>
              <a:t>Current limitations: no mobile app, no parent portal, no real-time notifications</a:t>
            </a:r>
          </a:p>
          <a:p>
            <a:r>
              <a:rPr lang="en-US" dirty="0"/>
              <a:t>Future work: mobile apps, SMS/email alerts, parent access integration</a:t>
            </a: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 descr="MBSTU_Logo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828655" y="245745"/>
            <a:ext cx="995045" cy="989330"/>
          </a:xfrm>
          <a:prstGeom prst="rect">
            <a:avLst/>
          </a:prstGeom>
        </p:spPr>
      </p:pic>
      <p:sp>
        <p:nvSpPr>
          <p:cNvPr id="4" name="Rectangle 6" descr="e7d195523061f1c0deeec63e560781cfd59afb0ea006f2a87ABB68BF51EA6619813959095094C18C62A12F549504892A4AAA8C1554C6663626E05CA27F281A14E6983772AFC3FB97135759321DEA3D70DBDC3F267C2A72094B3A9B655CEBC4A445944AB6F04D4566D28CDB915840310B983D9CB53150E02C53515D74B3A50BE16B4C01DB772DD75A6907B2F45F8222C2"/>
          <p:cNvSpPr/>
          <p:nvPr/>
        </p:nvSpPr>
        <p:spPr>
          <a:xfrm>
            <a:off x="0" y="-1"/>
            <a:ext cx="12192000" cy="48810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n-lt"/>
                <a:ea typeface="仿宋_GB2312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SimSun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SimSun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SimSun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6" r="7389" b="84853"/>
          <a:stretch>
            <a:fillRect/>
          </a:stretch>
        </p:blipFill>
        <p:spPr>
          <a:xfrm>
            <a:off x="1687112" y="-3115"/>
            <a:ext cx="8772281" cy="4085718"/>
          </a:xfrm>
          <a:prstGeom prst="rect">
            <a:avLst/>
          </a:prstGeom>
        </p:spPr>
      </p:pic>
      <p:sp>
        <p:nvSpPr>
          <p:cNvPr id="21" name="Rectangle 6" descr="e7d195523061f1c0deeec63e560781cfd59afb0ea006f2a87ABB68BF51EA6619813959095094C18C62A12F549504892A4AAA8C1554C6663626E05CA27F281A14E6983772AFC3FB97135759321DEA3D70DBDC3F267C2A72094B3A9B655CEBC4A445944AB6F04D4566D28CDB915840310B983D9CB53150E02C53515D74B3A50BE16B4C01DB772DD75A6907B2F45F8222C2"/>
          <p:cNvSpPr/>
          <p:nvPr/>
        </p:nvSpPr>
        <p:spPr>
          <a:xfrm>
            <a:off x="0" y="4918801"/>
            <a:ext cx="12192000" cy="19769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2"/>
                </a:solidFill>
                <a:latin typeface="+mn-lt"/>
                <a:ea typeface="仿宋_GB2312" pitchFamily="49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SimSun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SimSun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SimSun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1800" dirty="0">
              <a:solidFill>
                <a:schemeClr val="tx1"/>
              </a:solidFill>
              <a:ea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22" t="724" r="34057" b="90923"/>
          <a:stretch>
            <a:fillRect/>
          </a:stretch>
        </p:blipFill>
        <p:spPr>
          <a:xfrm>
            <a:off x="4130369" y="677618"/>
            <a:ext cx="3967179" cy="258729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1" t="2395" r="84645" b="93484"/>
          <a:stretch>
            <a:fillRect/>
          </a:stretch>
        </p:blipFill>
        <p:spPr>
          <a:xfrm>
            <a:off x="984649" y="541975"/>
            <a:ext cx="1458608" cy="134921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2" t="7630" r="75474" b="88472"/>
          <a:stretch>
            <a:fillRect/>
          </a:stretch>
        </p:blipFill>
        <p:spPr>
          <a:xfrm>
            <a:off x="2135534" y="2220329"/>
            <a:ext cx="1276283" cy="127628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8" t="12307" r="86125" b="83906"/>
          <a:stretch>
            <a:fillRect/>
          </a:stretch>
        </p:blipFill>
        <p:spPr>
          <a:xfrm>
            <a:off x="627017" y="3242030"/>
            <a:ext cx="1422143" cy="123981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02" t="9746" r="5952" b="86022"/>
          <a:stretch>
            <a:fillRect/>
          </a:stretch>
        </p:blipFill>
        <p:spPr>
          <a:xfrm>
            <a:off x="9929798" y="3030396"/>
            <a:ext cx="1349211" cy="13856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77" t="3174" r="3881" b="93039"/>
          <a:stretch>
            <a:fillRect/>
          </a:stretch>
        </p:blipFill>
        <p:spPr>
          <a:xfrm>
            <a:off x="9961570" y="388505"/>
            <a:ext cx="1385680" cy="1239816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4" t="14646" r="12461" b="75553"/>
          <a:stretch>
            <a:fillRect/>
          </a:stretch>
        </p:blipFill>
        <p:spPr>
          <a:xfrm>
            <a:off x="2266487" y="2842467"/>
            <a:ext cx="7826715" cy="2744028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2029275" y="5468967"/>
            <a:ext cx="808795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charset="0"/>
                <a:cs typeface="Times New Roman" panose="02020603050405020304" charset="0"/>
              </a:rPr>
              <a:t>Thank you 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56" t="20493" r="3839" b="71711"/>
          <a:stretch>
            <a:fillRect/>
          </a:stretch>
        </p:blipFill>
        <p:spPr>
          <a:xfrm>
            <a:off x="1098576" y="5296749"/>
            <a:ext cx="605307" cy="901521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48" r="80462" b="64472"/>
          <a:stretch>
            <a:fillRect/>
          </a:stretch>
        </p:blipFill>
        <p:spPr>
          <a:xfrm>
            <a:off x="10428450" y="5613283"/>
            <a:ext cx="850559" cy="656822"/>
          </a:xfrm>
          <a:prstGeom prst="rect">
            <a:avLst/>
          </a:prstGeom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1">
              <a:rPr lang="en-US"/>
              <a:t>4/23/2026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18</a:t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3"/>
  <p:tag name="KSO_WM_UNIT_ID" val="_1*f*3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9"/>
  <p:tag name="KSO_WM_SPECIAL_SOURCE" val="bdnull"/>
  <p:tag name="KSO_WM_SLIDE_ID" val="custom20233473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3"/>
  <p:tag name="KSO_WM_SLIDE_LAYOUT" val="a_f"/>
  <p:tag name="KSO_WM_SLIDE_LAYOUT_CNT" val="1_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Name"/>
  <p:tag name="KSO_WM_UNIT_NOCLEAR" val="0"/>
  <p:tag name="KSO_WM_UNIT_VALUE" val="14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73_1*f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3_1*a*1"/>
  <p:tag name="KSO_WM_TEMPLATE_CATEGORY" val="custom"/>
  <p:tag name="KSO_WM_TEMPLATE_INDEX" val="20233473"/>
  <p:tag name="KSO_WM_UNIT_LAYERLEVEL" val="1"/>
  <p:tag name="KSO_WM_TAG_VERSION" val="3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473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1_Office Theme">
  <a:themeElements>
    <a:clrScheme name="紫金">
      <a:dk1>
        <a:srgbClr val="000000"/>
      </a:dk1>
      <a:lt1>
        <a:srgbClr val="FFFFFF"/>
      </a:lt1>
      <a:dk2>
        <a:srgbClr val="140831"/>
      </a:dk2>
      <a:lt2>
        <a:srgbClr val="ECE6FA"/>
      </a:lt2>
      <a:accent1>
        <a:srgbClr val="D9AB7D"/>
      </a:accent1>
      <a:accent2>
        <a:srgbClr val="27125A"/>
      </a:accent2>
      <a:accent3>
        <a:srgbClr val="63489A"/>
      </a:accent3>
      <a:accent4>
        <a:srgbClr val="FF8001"/>
      </a:accent4>
      <a:accent5>
        <a:srgbClr val="4B4BE5"/>
      </a:accent5>
      <a:accent6>
        <a:srgbClr val="29D5A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439</Words>
  <Application>Microsoft Office PowerPoint</Application>
  <PresentationFormat>Custom</PresentationFormat>
  <Paragraphs>133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1_Office Theme</vt:lpstr>
      <vt:lpstr>Department of Information and Communication Technology  Course Code: ICT-3204 Course Name: Web Application Development  Lab Presentation Topic:  Student Management System  </vt:lpstr>
      <vt:lpstr> Introduction </vt:lpstr>
      <vt:lpstr> Problem Statement</vt:lpstr>
      <vt:lpstr>Objectives</vt:lpstr>
      <vt:lpstr>Key Features </vt:lpstr>
      <vt:lpstr>Key Features</vt:lpstr>
      <vt:lpstr>  System Overview and Technologies Used </vt:lpstr>
      <vt:lpstr>System Overview and Technologies Used</vt:lpstr>
      <vt:lpstr>System Demonstration: student Management System</vt:lpstr>
      <vt:lpstr>System Demonstration</vt:lpstr>
      <vt:lpstr>System Demonstration</vt:lpstr>
      <vt:lpstr>System Demonstration</vt:lpstr>
      <vt:lpstr>System Demonstration</vt:lpstr>
      <vt:lpstr>limitations</vt:lpstr>
      <vt:lpstr>Future Work</vt:lpstr>
      <vt:lpstr> links</vt:lpstr>
      <vt:lpstr> Summary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Nusrat Jahan</dc:creator>
  <cp:lastModifiedBy>Nayem hasan</cp:lastModifiedBy>
  <cp:revision>15</cp:revision>
  <dcterms:created xsi:type="dcterms:W3CDTF">2025-07-23T00:59:00Z</dcterms:created>
  <dcterms:modified xsi:type="dcterms:W3CDTF">2026-04-23T18:39:52Z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D0B0A47937314063A96B25E83CA4552D_11</vt:lpwstr>
  </property>
  <property fmtid="{D5CDD505-2E9C-101B-9397-08002B2CF9AE}" pid="3" name="KSOProductBuildVer">
    <vt:lpwstr>1033-12.2.0.23196</vt:lpwstr>
  </property>
</Properties>
</file>